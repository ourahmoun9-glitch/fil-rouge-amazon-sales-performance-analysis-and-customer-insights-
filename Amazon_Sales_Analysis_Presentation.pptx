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11"/>
  </p:notesMasterIdLst>
  <p:sldIdLst>
    <p:sldId id="256" r:id="rId2"/>
    <p:sldId id="264" r:id="rId3"/>
    <p:sldId id="263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6" y="7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2316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71011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8754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675377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519215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14702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10010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3172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598677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392048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4678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2540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77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7051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943600" cy="5943600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5029200" cy="5029200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 ✕  SIMPLON MAGHREB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Sales Performance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AEB6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&amp; Customer Insights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Jupyter Notebook analysis pipeline, from raw data to a Power BI dashboard.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828800" cy="621792"/>
          </a:xfrm>
          <a:prstGeom prst="roundRect">
            <a:avLst>
              <a:gd name="adj" fmla="val 14706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3429000"/>
            <a:ext cx="2926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342900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34640" y="3429000"/>
            <a:ext cx="1828800" cy="621792"/>
          </a:xfrm>
          <a:prstGeom prst="roundRect">
            <a:avLst>
              <a:gd name="adj" fmla="val 14706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3429000"/>
            <a:ext cx="2926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18688" y="342900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846320" y="3429000"/>
            <a:ext cx="1828800" cy="621792"/>
          </a:xfrm>
          <a:prstGeom prst="roundRect">
            <a:avLst>
              <a:gd name="adj" fmla="val 14706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429000"/>
            <a:ext cx="2926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30368" y="342900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Test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0" y="3429000"/>
            <a:ext cx="1828800" cy="621792"/>
          </a:xfrm>
          <a:prstGeom prst="roundRect">
            <a:avLst>
              <a:gd name="adj" fmla="val 14706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67728" y="3429000"/>
            <a:ext cx="2926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42048" y="342900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69680" y="3429000"/>
            <a:ext cx="1828800" cy="621792"/>
          </a:xfrm>
          <a:prstGeom prst="roundRect">
            <a:avLst>
              <a:gd name="adj" fmla="val 14706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79408" y="3429000"/>
            <a:ext cx="2926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53728" y="342900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" y="443484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22960" y="4983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Analyzed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520440" y="443484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$91.8M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520440" y="4983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43K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217920" y="4983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915400" y="443484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yrs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8915400" y="4983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– 2024 Data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-2560320"/>
            <a:ext cx="7315200" cy="7315200"/>
          </a:xfrm>
          <a:prstGeom prst="ellipse">
            <a:avLst/>
          </a:prstGeom>
          <a:ln w="31750">
            <a:solidFill>
              <a:srgbClr val="F5A62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77272" y="-1463040"/>
            <a:ext cx="5486400" cy="5486400"/>
          </a:xfrm>
          <a:prstGeom prst="ellipse">
            <a:avLst/>
          </a:prstGeom>
          <a:ln w="1905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Technologies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043684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0992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600200" y="207568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 for the analysis pipeline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12920" y="150876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32960" y="196596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684" y="204368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64480" y="170992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364480" y="207568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loading, cleaning &amp; transformation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77200" y="150876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97240" y="196596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4964" y="2043684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28760" y="170992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9128760" y="207568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operations on arrays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315468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68680" y="361188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" y="3689604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335584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600200" y="372160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charts &amp; distributions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12920" y="315468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32960" y="361188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0684" y="3689604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364480" y="335584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5364480" y="372160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data visualization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077200" y="315468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97240" y="361188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964" y="3689604"/>
            <a:ext cx="347472" cy="3474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128760" y="335584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9128760" y="372160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T-test, Chi² and correlation testing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48640" y="480060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404" y="5335524"/>
            <a:ext cx="347472" cy="34747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600200" y="500176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Kagglehub</a:t>
            </a:r>
            <a:endParaRPr lang="en-US" sz="1500" dirty="0"/>
          </a:p>
        </p:txBody>
      </p:sp>
      <p:sp>
        <p:nvSpPr>
          <p:cNvPr id="40" name="Text 31"/>
          <p:cNvSpPr/>
          <p:nvPr/>
        </p:nvSpPr>
        <p:spPr>
          <a:xfrm>
            <a:off x="1600200" y="536752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sourcing (Kaggle API)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12920" y="480060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4632960" y="525780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0684" y="5335524"/>
            <a:ext cx="347472" cy="34747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364480" y="500176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</a:t>
            </a:r>
            <a:endParaRPr lang="en-US" sz="1500" dirty="0"/>
          </a:p>
        </p:txBody>
      </p:sp>
      <p:sp>
        <p:nvSpPr>
          <p:cNvPr id="45" name="Text 35"/>
          <p:cNvSpPr/>
          <p:nvPr/>
        </p:nvSpPr>
        <p:spPr>
          <a:xfrm>
            <a:off x="5364480" y="536752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notebook environment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077200" y="4800600"/>
            <a:ext cx="3535680" cy="1417320"/>
          </a:xfrm>
          <a:prstGeom prst="roundRect">
            <a:avLst>
              <a:gd name="adj" fmla="val 5161"/>
            </a:avLst>
          </a:prstGeom>
          <a:solidFill>
            <a:srgbClr val="16161B"/>
          </a:solidFill>
          <a:ln w="12700">
            <a:solidFill>
              <a:srgbClr val="2A2A3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8397240" y="5257800"/>
            <a:ext cx="502920" cy="502920"/>
          </a:xfrm>
          <a:prstGeom prst="ellipse">
            <a:avLst/>
          </a:prstGeom>
          <a:solidFill>
            <a:srgbClr val="1D1D24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4964" y="5335524"/>
            <a:ext cx="347472" cy="347472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128760" y="5001768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50" name="Text 39"/>
          <p:cNvSpPr/>
          <p:nvPr/>
        </p:nvSpPr>
        <p:spPr>
          <a:xfrm>
            <a:off x="9128760" y="5367528"/>
            <a:ext cx="225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&amp; reporting</a:t>
            </a:r>
            <a:endParaRPr lang="en-US" sz="1100" dirty="0"/>
          </a:p>
        </p:txBody>
      </p:sp>
      <p:sp>
        <p:nvSpPr>
          <p:cNvPr id="52" name="Text 4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-2560320"/>
            <a:ext cx="7315200" cy="7315200"/>
          </a:xfrm>
          <a:prstGeom prst="ellipse">
            <a:avLst/>
          </a:prstGeom>
          <a:ln w="31750">
            <a:solidFill>
              <a:srgbClr val="F5A62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77272" y="-1463040"/>
            <a:ext cx="5486400" cy="5486400"/>
          </a:xfrm>
          <a:prstGeom prst="ellipse">
            <a:avLst/>
          </a:prstGeom>
          <a:ln w="1905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Roadmap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5819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14813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&amp; Piloting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120640" y="14813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tool, tasks, milestones and deliverables planning.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" y="1965960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240280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91640" y="21396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5120640" y="2139696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 analysis, problem reformulation, objectives &amp; 5+ actionable KPIs.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32104" y="2624328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640080" y="2871216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008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2898648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91640" y="27980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Sourcing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120640" y="279806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2+ complementary data sources, quality checks and documentation.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32104" y="3282696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640080" y="3529584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008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3557016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691640" y="3456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 (EDA)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5120640" y="345643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statistics, distributions, anomaly detection, first insights.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832104" y="3941064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30" name="Shape 24"/>
          <p:cNvSpPr/>
          <p:nvPr/>
        </p:nvSpPr>
        <p:spPr>
          <a:xfrm>
            <a:off x="640080" y="4187952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008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720" y="4215384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91640" y="4114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&amp; Modeling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512064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missing values &amp; duplicates, normalization, star-schema data model.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832104" y="4599432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36" name="Shape 29"/>
          <p:cNvSpPr/>
          <p:nvPr/>
        </p:nvSpPr>
        <p:spPr>
          <a:xfrm>
            <a:off x="640080" y="4846320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4008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8720" y="4873752"/>
            <a:ext cx="329184" cy="329184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691640" y="47731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Testing</a:t>
            </a:r>
            <a:endParaRPr lang="en-US" sz="1450" dirty="0"/>
          </a:p>
        </p:txBody>
      </p:sp>
      <p:sp>
        <p:nvSpPr>
          <p:cNvPr id="40" name="Text 32"/>
          <p:cNvSpPr/>
          <p:nvPr/>
        </p:nvSpPr>
        <p:spPr>
          <a:xfrm>
            <a:off x="5120640" y="47731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T-test, Chi², correlation — hypothesis validation &amp; business interpretation.</a:t>
            </a:r>
            <a:endParaRPr lang="en-US" sz="1200" dirty="0"/>
          </a:p>
        </p:txBody>
      </p:sp>
      <p:sp>
        <p:nvSpPr>
          <p:cNvPr id="41" name="Shape 33"/>
          <p:cNvSpPr/>
          <p:nvPr/>
        </p:nvSpPr>
        <p:spPr>
          <a:xfrm>
            <a:off x="832104" y="5257800"/>
            <a:ext cx="0" cy="630936"/>
          </a:xfrm>
          <a:prstGeom prst="line">
            <a:avLst/>
          </a:prstGeom>
          <a:noFill/>
          <a:ln w="12700">
            <a:solidFill>
              <a:srgbClr val="2A2A31"/>
            </a:solidFill>
            <a:prstDash val="dash"/>
          </a:ln>
        </p:spPr>
      </p:sp>
      <p:sp>
        <p:nvSpPr>
          <p:cNvPr id="42" name="Shape 34"/>
          <p:cNvSpPr/>
          <p:nvPr/>
        </p:nvSpPr>
        <p:spPr>
          <a:xfrm>
            <a:off x="640080" y="5504688"/>
            <a:ext cx="384048" cy="384048"/>
          </a:xfrm>
          <a:prstGeom prst="ellipse">
            <a:avLst/>
          </a:prstGeom>
          <a:solidFill>
            <a:srgbClr val="1D1D24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4008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8720" y="5532120"/>
            <a:ext cx="329184" cy="329184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1691640" y="5431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Visualization</a:t>
            </a:r>
            <a:endParaRPr lang="en-US" sz="1450" dirty="0"/>
          </a:p>
        </p:txBody>
      </p:sp>
      <p:sp>
        <p:nvSpPr>
          <p:cNvPr id="46" name="Text 37"/>
          <p:cNvSpPr/>
          <p:nvPr/>
        </p:nvSpPr>
        <p:spPr>
          <a:xfrm>
            <a:off x="5120640" y="5431536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+ detail pages, interactive filters, clear navigation, decision-oriented views.</a:t>
            </a:r>
            <a:endParaRPr lang="en-US" sz="1200" dirty="0"/>
          </a:p>
        </p:txBody>
      </p:sp>
      <p:sp>
        <p:nvSpPr>
          <p:cNvPr id="48" name="Text 3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Loading &amp; Preparing the Data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test.ipynb  —  pandas + kagglehub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309360" cy="4663440"/>
          </a:xfrm>
          <a:prstGeom prst="roundRect">
            <a:avLst>
              <a:gd name="adj" fmla="val 1569"/>
            </a:avLst>
          </a:prstGeom>
          <a:solidFill>
            <a:srgbClr val="131A22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783080"/>
            <a:ext cx="146304" cy="146304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" y="178308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9" name="Shape 7"/>
          <p:cNvSpPr/>
          <p:nvPr/>
        </p:nvSpPr>
        <p:spPr>
          <a:xfrm>
            <a:off x="1335024" y="178308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1488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kagglehub, pandas as pd, 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245516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276148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kagglehub.dataset_download(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30678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"rohiteng/amazon-sales-dataset")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337413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csv_file = os.path.join(path, "Amazon.csv")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36804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pd.read_csv(csv_file)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398678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42931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df['OrderDate'] = pd.to_datetime(df['OrderDate'])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8680" y="45994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df['Year']  = df['OrderDate'].dt.year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49057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df['Month'] = df['OrderDate'].dt.month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8680" y="52120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8680" y="55184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df['Country']  = df['Country'].str.title()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" y="582472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df['Category'] = df['Category'].str.title()</a:t>
            </a:r>
            <a:endParaRPr lang="en-US" sz="1250" dirty="0"/>
          </a:p>
        </p:txBody>
      </p:sp>
      <p:pic>
        <p:nvPicPr>
          <p:cNvPr id="23" name="Image 0" descr="images/icon_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554480"/>
            <a:ext cx="438912" cy="43891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708392" y="1508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via kagglehub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708392" y="1847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the “Amazon Sales Dataset” (rohiteng) straight into the notebook — no manual file handling.</a:t>
            </a:r>
            <a:endParaRPr lang="en-US" sz="1100" dirty="0"/>
          </a:p>
        </p:txBody>
      </p:sp>
      <p:pic>
        <p:nvPicPr>
          <p:cNvPr id="26" name="Image 1" descr="images/icon_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438912" cy="43891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708392" y="28072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dates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7708392" y="314553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OrderDate to datetime and derived Year / Month columns for time-based analysis.</a:t>
            </a:r>
            <a:endParaRPr lang="en-US" sz="1100" dirty="0"/>
          </a:p>
        </p:txBody>
      </p:sp>
      <p:pic>
        <p:nvPicPr>
          <p:cNvPr id="29" name="Image 2" descr="images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4151376"/>
            <a:ext cx="438912" cy="43891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08392" y="41056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text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08392" y="4443984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Country and Category text casing with .str.title() for consistent grouping.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7086600" y="5495544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31A22"/>
          </a:solidFill>
          <a:ln/>
        </p:spPr>
      </p:sp>
      <p:sp>
        <p:nvSpPr>
          <p:cNvPr id="33" name="Text 28"/>
          <p:cNvSpPr/>
          <p:nvPr/>
        </p:nvSpPr>
        <p:spPr>
          <a:xfrm>
            <a:off x="7315200" y="563270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columns  ·  100,000 rows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7315200" y="59527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Orders, customers, products, payments and geography, ready for exploration.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Descriptive Statistics &amp; Data Quality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df.describe()  +  distribution &amp; outlier checks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446520" cy="4270248"/>
          </a:xfrm>
          <a:prstGeom prst="roundRect">
            <a:avLst>
              <a:gd name="adj" fmla="val 1285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pic>
        <p:nvPicPr>
          <p:cNvPr id="7" name="Image 0" descr="images/chart_distributio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645920"/>
            <a:ext cx="6172200" cy="3995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78040" y="1508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Summary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74520"/>
          <a:ext cx="4480559" cy="1417320"/>
        </p:xfrm>
        <a:graphic>
          <a:graphicData uri="http://schemas.openxmlformats.org/drawingml/2006/table">
            <a:tbl>
              <a:tblPr/>
              <a:tblGrid>
                <a:gridCol w="1881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9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93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TotalAmount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$918.26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$714.32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$302.91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$303.07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ShippingCost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3E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178040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Gates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178040" y="38404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across all 22 columns: 0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rows: 0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rows (amount, qty, or price ≤ 0): 0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Boxplots flag high-value orders as expected outliers, not errors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Visuals &amp; First Insights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patterns across category, time, status and geography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3153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4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0" descr="images/chart_revenue_catego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65960" y="1581912"/>
            <a:ext cx="3877056" cy="18196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645920"/>
            <a:ext cx="1234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leads revenue; categories perform comparably overall.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81344" y="1508760"/>
            <a:ext cx="543153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4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0" name="Image 1" descr="images/chart_revenue_month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8664" y="1581912"/>
            <a:ext cx="3877056" cy="18196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64224" y="1645920"/>
            <a:ext cx="1234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stay stable year-round — peak in August, dip in February.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3703320"/>
            <a:ext cx="543153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4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3" name="Image 2" descr="images/chart_statu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65960" y="3776472"/>
            <a:ext cx="3877056" cy="18196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1520" y="3840480"/>
            <a:ext cx="1234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75% of orders are Delivered; cancellations/returns are minor.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181344" y="3703320"/>
            <a:ext cx="543153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4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6" name="Image 3" descr="images/chart_country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98664" y="3776472"/>
            <a:ext cx="3877056" cy="18196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64224" y="3840480"/>
            <a:ext cx="1234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drives the most revenue, followed by India.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 Statistical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duplicates / nulls, then SciPy hypothesis tests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5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36192"/>
            <a:ext cx="2766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975104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14700" y="1536192"/>
            <a:ext cx="2766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14700" y="1975104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80760" y="1536192"/>
            <a:ext cx="2766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80760" y="1975104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after cleaning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846820" y="1536192"/>
            <a:ext cx="2766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46820" y="1975104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columns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1729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order value differ between Delivered vs. Cancelled orders?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0.058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84632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5C6673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303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amount does not influence delivery outcome.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3400" y="251460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17720" y="31729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payment method affect order status?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0.777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617720" y="484632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5C6673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03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 has no measurable relationship with order status.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251460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1E2530"/>
          </a:solidFill>
          <a:ln w="12700">
            <a:solidFill>
              <a:srgbClr val="343E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12480" y="31729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discount correlated with total order amount?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41248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-0.108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8412480" y="484632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2E8B57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0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(p &lt; 0.001)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412480" y="5303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discounts are weakly associated with lower order totals.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 in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built with Power Query &amp; DAX measures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736092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2700">
            <a:solidFill>
              <a:srgbClr val="E4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0" descr="images/mode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645920"/>
            <a:ext cx="7086600" cy="4434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838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fact, five dimensions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183880" y="1947672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0" name="Text 7"/>
          <p:cNvSpPr/>
          <p:nvPr/>
        </p:nvSpPr>
        <p:spPr>
          <a:xfrm>
            <a:off x="8412480" y="1847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facte_sales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0" y="21214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line grain: quantity, discount, tax, shipping, total amount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83880" y="266090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0" y="2834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name, city, state, country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183880" y="3374136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0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412480" y="354787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category, brand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83880" y="4087368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9" name="Text 16"/>
          <p:cNvSpPr/>
          <p:nvPr/>
        </p:nvSpPr>
        <p:spPr>
          <a:xfrm>
            <a:off x="8412480" y="3986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412480" y="42611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date, month, quarter, year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83880" y="4800600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0" y="470001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 / dim_status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412480" y="497433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 &amp; order status lookups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183880" y="56235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131A22"/>
          </a:solidFill>
          <a:ln/>
        </p:spPr>
      </p:sp>
      <p:sp>
        <p:nvSpPr>
          <p:cNvPr id="25" name="Text 22"/>
          <p:cNvSpPr/>
          <p:nvPr/>
        </p:nvSpPr>
        <p:spPr>
          <a:xfrm>
            <a:off x="841248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DAX measures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6080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Revenue, Avg Order Value, Revenue Growth %, Return Rate, Cancellation Rate, Revenue Per Customer, and more.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Performance Analysis  •  Amazon x Simplon Maghreb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Power BI Dashboard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686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connected report pages for sales &amp; customer analysis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08676" cy="4160520"/>
          </a:xfrm>
          <a:prstGeom prst="roundRect">
            <a:avLst>
              <a:gd name="adj" fmla="val 1319"/>
            </a:avLst>
          </a:prstGeom>
          <a:solidFill>
            <a:srgbClr val="1E2530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0" descr="images/sales_performan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" y="1527048"/>
            <a:ext cx="5189220" cy="29238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4588083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953843"/>
            <a:ext cx="4951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trend, revenue by payment method, category &amp; brand breakdown, order status.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31636" y="1417320"/>
            <a:ext cx="5408676" cy="4160520"/>
          </a:xfrm>
          <a:prstGeom prst="roundRect">
            <a:avLst>
              <a:gd name="adj" fmla="val 1319"/>
            </a:avLst>
          </a:prstGeom>
          <a:solidFill>
            <a:srgbClr val="1E2530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1" name="Image 1" descr="images/customer_analysi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41364" y="1527048"/>
            <a:ext cx="5189220" cy="2923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60236" y="4588083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460236" y="4953843"/>
            <a:ext cx="4951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city &amp; customer, order share by category, geographic revenue heatmap.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Performance Analysis  •  Amazon x Simplon Maghreb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196</TotalTime>
  <Words>868</Words>
  <Application>Microsoft Office PowerPoint</Application>
  <PresentationFormat>Widescreen</PresentationFormat>
  <Paragraphs>185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Sales Performance Analysis &amp; Customer Insights</dc:title>
  <dc:subject>PptxGenJS Presentation</dc:subject>
  <dc:creator>Amazon Sales Analysis Project</dc:creator>
  <cp:lastModifiedBy>sa aaad</cp:lastModifiedBy>
  <cp:revision>2</cp:revision>
  <dcterms:created xsi:type="dcterms:W3CDTF">2026-07-05T19:45:31Z</dcterms:created>
  <dcterms:modified xsi:type="dcterms:W3CDTF">2026-07-06T22:07:33Z</dcterms:modified>
</cp:coreProperties>
</file>