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1"/>
  </p:notesMasterIdLst>
  <p:sldIdLst>
    <p:sldId id="256" r:id="rId2"/>
    <p:sldId id="264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6" y="7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31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101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8754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7537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921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470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001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17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9867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204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7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254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7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705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 ✕  SIMPLON MAGHREB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Sales Performance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AEB6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Customer Insights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 Notebook analysis pipeline, from raw data to a Power BI dashboard.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42900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3429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3429000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342900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8688" y="3429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3429000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342900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3429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3429000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342900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42048" y="3429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3429000"/>
            <a:ext cx="1828800" cy="621792"/>
          </a:xfrm>
          <a:prstGeom prst="roundRect">
            <a:avLst>
              <a:gd name="adj" fmla="val 14706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3429000"/>
            <a:ext cx="292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3429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20440" y="4434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$91.8M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52044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0" y="4434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43K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1792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15400" y="4434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91540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2024 Data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2560320"/>
            <a:ext cx="7315200" cy="7315200"/>
          </a:xfrm>
          <a:prstGeom prst="ellipse">
            <a:avLst/>
          </a:prstGeom>
          <a:ln w="3175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77272" y="-1463040"/>
            <a:ext cx="5486400" cy="5486400"/>
          </a:xfrm>
          <a:prstGeom prst="ellipse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0436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0992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07568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analysis pipeline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2920" y="150876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960" y="196596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684" y="20436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4480" y="170992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364480" y="207568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transformation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77200" y="150876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7240" y="196596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964" y="204368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8760" y="170992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28760" y="207568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on arrays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1546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368960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335584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600200" y="372160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charts &amp; distributions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12920" y="31546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32960" y="361188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684" y="368960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64480" y="335584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364480" y="372160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data visualization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77200" y="31546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97240" y="361188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4964" y="368960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28760" y="335584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9128760" y="372160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Chi² and correlation testing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48006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" y="5335524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600200" y="500176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Kagglehub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1600200" y="536752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sourcing (Kaggle API)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312920" y="48006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32960" y="525780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0684" y="5335524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364480" y="500176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5364480" y="536752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notebook environment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077200" y="48006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A2A3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97240" y="5257800"/>
            <a:ext cx="502920" cy="502920"/>
          </a:xfrm>
          <a:prstGeom prst="ellipse">
            <a:avLst/>
          </a:prstGeom>
          <a:solidFill>
            <a:srgbClr val="1D1D24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4964" y="5335524"/>
            <a:ext cx="347472" cy="3474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128760" y="5001768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9128760" y="5367528"/>
            <a:ext cx="225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reporting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2560320"/>
            <a:ext cx="7315200" cy="7315200"/>
          </a:xfrm>
          <a:prstGeom prst="ellipse">
            <a:avLst/>
          </a:prstGeom>
          <a:ln w="3175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77272" y="-1463040"/>
            <a:ext cx="5486400" cy="5486400"/>
          </a:xfrm>
          <a:prstGeom prst="ellipse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819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481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Piloting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120640" y="1481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tool, tasks, milestones and deliverables planning.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2104" y="1965960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24028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21396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120640" y="21396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analysis, problem reformulation, objectives &amp; 5+ actionable KPIs.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" y="2624328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89864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120640" y="279806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of 2+ complementary data sources, quality checks and documentation.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32104" y="3282696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55701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3456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(EDA)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120640" y="34564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distributions, anomaly detection, first insights.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32104" y="3941064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008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215384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9164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Modeling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5120640" y="41148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&amp; duplicates, normalization, star-schema data model.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32104" y="4599432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873752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691640" y="4773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5120640" y="47731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Chi², correlation — hypothesis validation &amp; business interpretation.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832104" y="5257800"/>
            <a:ext cx="0" cy="630936"/>
          </a:xfrm>
          <a:prstGeom prst="line">
            <a:avLst/>
          </a:prstGeom>
          <a:noFill/>
          <a:ln w="12700">
            <a:solidFill>
              <a:srgbClr val="2A2A31"/>
            </a:solidFill>
            <a:prstDash val="dash"/>
          </a:ln>
        </p:spPr>
      </p:sp>
      <p:sp>
        <p:nvSpPr>
          <p:cNvPr id="42" name="Shape 34"/>
          <p:cNvSpPr/>
          <p:nvPr/>
        </p:nvSpPr>
        <p:spPr>
          <a:xfrm>
            <a:off x="640080" y="5504688"/>
            <a:ext cx="384048" cy="384048"/>
          </a:xfrm>
          <a:prstGeom prst="ellipse">
            <a:avLst/>
          </a:prstGeom>
          <a:solidFill>
            <a:srgbClr val="1D1D24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4008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5532120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691640" y="54315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450" dirty="0"/>
          </a:p>
        </p:txBody>
      </p:sp>
      <p:sp>
        <p:nvSpPr>
          <p:cNvPr id="46" name="Text 37"/>
          <p:cNvSpPr/>
          <p:nvPr/>
        </p:nvSpPr>
        <p:spPr>
          <a:xfrm>
            <a:off x="5120640" y="54315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detail pages, interactive filters, clear navigation, decision-oriented views.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Preparing the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test.ipynb  —  pandas + kagglehub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309360" cy="4663440"/>
          </a:xfrm>
          <a:prstGeom prst="roundRect">
            <a:avLst>
              <a:gd name="adj" fmla="val 1569"/>
            </a:avLst>
          </a:prstGeom>
          <a:solidFill>
            <a:srgbClr val="131A2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148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kagglehub, pandas as pd, 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4551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7614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kagglehub.dataset_download(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0678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"rohiteng/amazon-sales-dataset")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3741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csv_file = os.path.join(path, "Amazon.csv")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6804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pd.read_csv(csv_file)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2931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df['OrderDate'] = pd.to_datetime(df['OrderDate'])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599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df['Year']  = df['OrderDate'].dt.year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49057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df['Month'] = df['OrderDate'].dt.month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2120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55184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df['Country']  = df['Country'].str.title()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8247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 = df['Category'].str.title()</a:t>
            </a:r>
            <a:endParaRPr lang="en-US" sz="1250" dirty="0"/>
          </a:p>
        </p:txBody>
      </p:sp>
      <p:pic>
        <p:nvPicPr>
          <p:cNvPr id="23" name="Image 0" descr="images/icon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4480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08392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kagglehub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708392" y="18470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the “Amazon Sales Dataset” (rohiteng) straight into the notebook — no manual file handling.</a:t>
            </a:r>
            <a:endParaRPr lang="en-US" sz="1100" dirty="0"/>
          </a:p>
        </p:txBody>
      </p:sp>
      <p:pic>
        <p:nvPicPr>
          <p:cNvPr id="26" name="Image 1" descr="images/icon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852928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708392" y="2807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7708392" y="314553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OrderDate to datetime and derived Year / Month columns for time-based analysis.</a:t>
            </a:r>
            <a:endParaRPr lang="en-US" sz="1100" dirty="0"/>
          </a:p>
        </p:txBody>
      </p:sp>
      <p:pic>
        <p:nvPicPr>
          <p:cNvPr id="29" name="Image 2" descr="images/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4151376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08392" y="4105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text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7708392" y="44439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and Category text casing with .str.title() for consistent grouping.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495544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131A22"/>
          </a:solidFill>
          <a:ln/>
        </p:spPr>
      </p:sp>
      <p:sp>
        <p:nvSpPr>
          <p:cNvPr id="33" name="Text 28"/>
          <p:cNvSpPr/>
          <p:nvPr/>
        </p:nvSpPr>
        <p:spPr>
          <a:xfrm>
            <a:off x="7315200" y="5632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columns  ·  100,000 rows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7315200" y="59527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customers, products, payments and geography, ready for exploration.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C71FB25-2530-1648-4DEC-6469D0EE8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728216"/>
            <a:ext cx="5964472" cy="433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&amp; Data Quality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+  distribution &amp; outlier checks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46520" cy="4270248"/>
          </a:xfrm>
          <a:prstGeom prst="roundRect">
            <a:avLst>
              <a:gd name="adj" fmla="val 1285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F4407A-2428-6796-6712-C3721301A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09" y="1633828"/>
            <a:ext cx="6256960" cy="40201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0874EA-6634-EBBF-41A2-1AC8C5E987E9}"/>
              </a:ext>
            </a:extLst>
          </p:cNvPr>
          <p:cNvSpPr txBox="1"/>
          <p:nvPr/>
        </p:nvSpPr>
        <p:spPr>
          <a:xfrm>
            <a:off x="7040907" y="1573961"/>
            <a:ext cx="4895989" cy="4213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1. Distribution of Total Sales Amount</a:t>
            </a:r>
          </a:p>
          <a:p>
            <a:pPr>
              <a:lnSpc>
                <a:spcPts val="1425"/>
              </a:lnSpc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effectLst/>
                <a:latin typeface="Consolas" panose="020B0609020204030204" pitchFamily="49" charset="0"/>
              </a:rPr>
              <a:t>Most orders have a low to medium total amount, while only a few orders have very high values. This indicates a right-skewed distribution.</a:t>
            </a:r>
          </a:p>
          <a:p>
            <a:pPr>
              <a:lnSpc>
                <a:spcPts val="1425"/>
              </a:lnSpc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2. Distribution of Unit Prices</a:t>
            </a:r>
          </a:p>
          <a:p>
            <a:pPr>
              <a:lnSpc>
                <a:spcPts val="1425"/>
              </a:lnSpc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effectLst/>
                <a:latin typeface="Consolas" panose="020B0609020204030204" pitchFamily="49" charset="0"/>
              </a:rPr>
              <a:t>Unit prices are evenly distributed across the dataset, showing that products are available in different price ranges.</a:t>
            </a:r>
          </a:p>
          <a:p>
            <a:pPr>
              <a:lnSpc>
                <a:spcPts val="1425"/>
              </a:lnSpc>
              <a:buNone/>
            </a:pPr>
            <a:endParaRPr lang="en-US" sz="1100" b="1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3. Distribution of Order Quantities</a:t>
            </a:r>
            <a:endParaRPr lang="en-US" sz="11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effectLst/>
                <a:latin typeface="Consolas" panose="020B0609020204030204" pitchFamily="49" charset="0"/>
              </a:rPr>
              <a:t>Order quantities are evenly distributed between 1 and 5 items, indicating that customers purchase different quantities with no dominant value.</a:t>
            </a:r>
          </a:p>
          <a:p>
            <a:pPr>
              <a:lnSpc>
                <a:spcPts val="1425"/>
              </a:lnSpc>
              <a:buNone/>
            </a:pPr>
            <a:endParaRPr lang="en-US" sz="11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4. Total Sales Amount by Category</a:t>
            </a:r>
            <a:br>
              <a:rPr lang="en-US" sz="11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chemeClr val="accent2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effectLst/>
                <a:latin typeface="Consolas" panose="020B0609020204030204" pitchFamily="49" charset="0"/>
              </a:rPr>
              <a:t>All categories have a similar distribution of sales amounts. Several outliers are present, indicating that a few orders have exceptionally high sales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Visuals &amp; First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patterns across category, time, status and geography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3153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images/chart_revenue_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65960" y="1581912"/>
            <a:ext cx="3877056" cy="1819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645920"/>
            <a:ext cx="1234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revenue; categories perform comparably overall.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81344" y="1508760"/>
            <a:ext cx="543153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images/chart_revenue_mon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98664" y="1581912"/>
            <a:ext cx="3877056" cy="1819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64224" y="1645920"/>
            <a:ext cx="1234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stay stable year-round — peak in August, dip in February.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43153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images/chart_statu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65960" y="3776472"/>
            <a:ext cx="3877056" cy="1819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3840480"/>
            <a:ext cx="1234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75% of orders are Delivered; cancellations/returns are minor.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81344" y="3703320"/>
            <a:ext cx="5431536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3" descr="images/chart_country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98664" y="3776472"/>
            <a:ext cx="3877056" cy="18196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64224" y="3840480"/>
            <a:ext cx="1234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drives the most revenue, followed by India.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Statistical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 / nulls, then SciPy hypothesis tests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975104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14700" y="1536192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14700" y="1975104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1536192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80760" y="1975104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46820" y="1536192"/>
            <a:ext cx="2766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46820" y="1975104"/>
            <a:ext cx="2766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1729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 value differ between Delivered vs. Cancelled orders?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0.058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8463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5C667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amount does not influence delivery outcome.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251460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31729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payment method affect order status?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0.777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617720" y="48463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5C667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03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has no measurable relationship with order status.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251460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1E2530"/>
          </a:solidFill>
          <a:ln w="12700">
            <a:solidFill>
              <a:srgbClr val="343E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31729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discount correlated with total order amount?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-0.108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412480" y="484632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(p &lt; 0.001)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5303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are weakly associated with lower order totals.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in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built with Power Query &amp; DAX measures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6092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images/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708660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fact, five dimensions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83880" y="194767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0" y="1847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facte_sales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2480" y="21214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 grain: quantity, discount, tax, shipping, total amount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83880" y="2660904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2560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0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city, state, country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83880" y="3374136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3273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12480" y="35478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category, brand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83880" y="4087368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39867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0" y="4261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month, quarter, year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83880" y="4800600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0" y="47000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 / dim_status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412480" y="49743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&amp; order status lookups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83880" y="56235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131A22"/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0" y="5760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DAX measures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0" y="6080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Avg Order Value, Revenue Growth %, Return Rate, Cancellation Rate, Revenue Per Customer, and more.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report pages for sales &amp; customer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1E253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images/sales_perform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527048"/>
            <a:ext cx="5189220" cy="2923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588083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953843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revenue by payment method, category &amp; brand breakdown, order status.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1636" y="1417320"/>
            <a:ext cx="5408676" cy="4160520"/>
          </a:xfrm>
          <a:prstGeom prst="roundRect">
            <a:avLst>
              <a:gd name="adj" fmla="val 1319"/>
            </a:avLst>
          </a:prstGeom>
          <a:solidFill>
            <a:srgbClr val="1E2530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images/customer_analysi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1364" y="1527048"/>
            <a:ext cx="5189220" cy="2923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0236" y="4588083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60236" y="4953843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&amp; customer, order share by category, geographic revenue heatmap.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915</TotalTime>
  <Words>909</Words>
  <Application>Microsoft Office PowerPoint</Application>
  <PresentationFormat>Widescreen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Performance Analysis &amp; Customer Insights</dc:title>
  <dc:subject>PptxGenJS Presentation</dc:subject>
  <dc:creator>Amazon Sales Analysis Project</dc:creator>
  <cp:lastModifiedBy>sa aaad</cp:lastModifiedBy>
  <cp:revision>4</cp:revision>
  <dcterms:created xsi:type="dcterms:W3CDTF">2026-07-05T19:45:31Z</dcterms:created>
  <dcterms:modified xsi:type="dcterms:W3CDTF">2026-07-07T10:06:52Z</dcterms:modified>
</cp:coreProperties>
</file>